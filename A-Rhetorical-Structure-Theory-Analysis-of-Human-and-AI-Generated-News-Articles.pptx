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70" r:id="rId5"/>
    <p:sldId id="25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  <p:embeddedFontLst>
    <p:embeddedFont>
      <p:font typeface="Alice" pitchFamily="34" charset="0"/>
      <p:regular r:id="rId21"/>
    </p:embeddedFont>
    <p:embeddedFont>
      <p:font typeface="Alice" pitchFamily="34" charset="-122"/>
      <p:regular r:id="rId22"/>
    </p:embeddedFont>
    <p:embeddedFont>
      <p:font typeface="Alice" pitchFamily="34" charset="-120"/>
      <p:regular r:id="rId23"/>
    </p:embeddedFont>
    <p:embeddedFont>
      <p:font typeface="Lora" pitchFamily="34" charset="0"/>
      <p:regular r:id="rId24"/>
    </p:embeddedFont>
    <p:embeddedFont>
      <p:font typeface="Lora" pitchFamily="34" charset="-122"/>
      <p:regular r:id="rId25"/>
    </p:embeddedFont>
    <p:embeddedFont>
      <p:font typeface="Lora" pitchFamily="34" charset="-120"/>
      <p:regular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0EDE6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819299"/>
            <a:ext cx="4722763" cy="17719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 Rhetorical Structure Theory Analysis of Human- and AI-Generated News Articles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803847"/>
            <a:ext cx="4722763" cy="152035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Case study: </a:t>
            </a:r>
            <a:r>
              <a:rPr lang="en-US" sz="1100" b="1" u="sng" dirty="0">
                <a:solidFill>
                  <a:srgbClr val="1B5F39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BBC News — "Extreme heat is defeating camel resilience in Africa"</a:t>
            </a:r>
            <a:r>
              <a:rPr lang="de-DE" altLang="en-US" sz="1100" b="1" u="sng" dirty="0">
                <a:solidFill>
                  <a:srgbClr val="1B5F39"/>
                </a:solidFill>
                <a:latin typeface="Calibri" charset="0"/>
                <a:ea typeface="Lora Bold" pitchFamily="34" charset="-122"/>
                <a:cs typeface="Lora Bold" pitchFamily="34" charset="-120"/>
              </a:rPr>
              <a:t> </a:t>
            </a:r>
            <a:endParaRPr lang="en-US" alt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Rhetorical Structure Theory (RST) is a framework for text organization developed by William Mann, Sandra Thompson, Christian M. I. M. Matthiessen, and others at USC's Information Sciences Institute, formalized in a landmark 1988 paper.</a:t>
            </a:r>
            <a:r>
              <a:rPr lang="de-DE" altLang="en-US" sz="1100" dirty="0">
                <a:solidFill>
                  <a:srgbClr val="2C2821"/>
                </a:solidFill>
                <a:latin typeface="Calibri" charset="0"/>
                <a:ea typeface="Lora" pitchFamily="34" charset="-122"/>
                <a:cs typeface="Lora" pitchFamily="34" charset="-120"/>
              </a:rPr>
              <a:t>  </a:t>
            </a:r>
            <a:r>
              <a:rPr lang="en-US" altLang="en-US" sz="1100" dirty="0">
                <a:solidFill>
                  <a:srgbClr val="2C2821"/>
                </a:solidFill>
                <a:latin typeface="Calibri" charset="0"/>
                <a:ea typeface="Lora" pitchFamily="34" charset="-122"/>
                <a:cs typeface="Lora" pitchFamily="34" charset="-120"/>
              </a:rPr>
              <a:t>https://www.bbc.com/news/articles/cqlxvvw06pqo</a:t>
            </a:r>
            <a:endParaRPr lang="en-US" altLang="en-US" sz="1100" dirty="0">
              <a:solidFill>
                <a:srgbClr val="2C2821"/>
              </a:solidFill>
              <a:latin typeface="Calibri" charset="0"/>
              <a:ea typeface="Lora" pitchFamily="34" charset="-122"/>
              <a:cs typeface="Lora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RST_exampl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0425" y="977900"/>
            <a:ext cx="4883150" cy="3187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6896"/>
            <a:ext cx="510629" cy="127843"/>
          </a:xfrm>
          <a:prstGeom prst="roundRect">
            <a:avLst>
              <a:gd name="adj" fmla="val 7901"/>
            </a:avLst>
          </a:prstGeom>
          <a:solidFill>
            <a:srgbClr val="D7F4E4"/>
          </a:solidFill>
        </p:spPr>
      </p:sp>
      <p:sp>
        <p:nvSpPr>
          <p:cNvPr id="3" name="Text 1"/>
          <p:cNvSpPr/>
          <p:nvPr/>
        </p:nvSpPr>
        <p:spPr>
          <a:xfrm>
            <a:off x="546571" y="432122"/>
            <a:ext cx="866924" cy="773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CASE STUDY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96119" y="554682"/>
            <a:ext cx="8151763" cy="2630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About the Article</a:t>
            </a:r>
            <a:endParaRPr lang="en-US" sz="1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948854"/>
            <a:ext cx="2719611" cy="27196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25875" y="1943770"/>
            <a:ext cx="5226695" cy="1314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Genre &amp; Scope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425875" y="2125191"/>
            <a:ext cx="5226695" cy="21461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Long-form environmental news feature — science journalism. Approximately 1,800–2,000 words across ~30 paragraphs, with an estimated 8–10 minute reading time.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3425875" y="2389733"/>
            <a:ext cx="5226695" cy="1314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Core Subject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425875" y="2571155"/>
            <a:ext cx="5683895" cy="107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impact of extreme heat and accelerating climate change on camel populations across Africa's arid regions.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496119" y="3799582"/>
            <a:ext cx="8151763" cy="2103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Style Characteristics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96119" y="4084886"/>
            <a:ext cx="2683966" cy="651644"/>
          </a:xfrm>
          <a:prstGeom prst="roundRect">
            <a:avLst>
              <a:gd name="adj" fmla="val 1938"/>
            </a:avLst>
          </a:prstGeom>
          <a:solidFill>
            <a:srgbClr val="F0EDE6"/>
          </a:solidFill>
        </p:spPr>
      </p:sp>
      <p:sp>
        <p:nvSpPr>
          <p:cNvPr id="12" name="Text 9"/>
          <p:cNvSpPr/>
          <p:nvPr/>
        </p:nvSpPr>
        <p:spPr>
          <a:xfrm>
            <a:off x="580281" y="4169048"/>
            <a:ext cx="2515642" cy="1314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Neutral Tone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80281" y="4330452"/>
            <a:ext cx="2515642" cy="21461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Objective, measured language throughout — no editorializing or emotional framing beyond sourced testimony.</a:t>
            </a:r>
            <a:endParaRPr lang="en-US" sz="650" dirty="0"/>
          </a:p>
        </p:txBody>
      </p:sp>
      <p:sp>
        <p:nvSpPr>
          <p:cNvPr id="14" name="Shape 11"/>
          <p:cNvSpPr/>
          <p:nvPr/>
        </p:nvSpPr>
        <p:spPr>
          <a:xfrm>
            <a:off x="3230017" y="4084886"/>
            <a:ext cx="2683966" cy="651644"/>
          </a:xfrm>
          <a:prstGeom prst="roundRect">
            <a:avLst>
              <a:gd name="adj" fmla="val 1938"/>
            </a:avLst>
          </a:prstGeom>
          <a:solidFill>
            <a:srgbClr val="F0EDE6"/>
          </a:solidFill>
        </p:spPr>
      </p:sp>
      <p:sp>
        <p:nvSpPr>
          <p:cNvPr id="15" name="Text 12"/>
          <p:cNvSpPr/>
          <p:nvPr/>
        </p:nvSpPr>
        <p:spPr>
          <a:xfrm>
            <a:off x="3314179" y="4169048"/>
            <a:ext cx="2515642" cy="1314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Evidence-Based Reporting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314179" y="4330452"/>
            <a:ext cx="2515642" cy="32191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Sources span camel herders, scientists, veterinarians, universities, the WMO, and the FAO — blending lived experience with institutional data.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5963915" y="4084886"/>
            <a:ext cx="2683966" cy="651644"/>
          </a:xfrm>
          <a:prstGeom prst="roundRect">
            <a:avLst>
              <a:gd name="adj" fmla="val 1938"/>
            </a:avLst>
          </a:prstGeom>
          <a:solidFill>
            <a:srgbClr val="F0EDE6"/>
          </a:solidFill>
        </p:spPr>
      </p:sp>
      <p:sp>
        <p:nvSpPr>
          <p:cNvPr id="18" name="Text 15"/>
          <p:cNvSpPr/>
          <p:nvPr/>
        </p:nvSpPr>
        <p:spPr>
          <a:xfrm>
            <a:off x="6048077" y="4169048"/>
            <a:ext cx="2515642" cy="1314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Human + Scientific Blend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048077" y="4330452"/>
            <a:ext cx="2515642" cy="32191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Personal testimony ("I have lost eight camel calves") is paired directly with physiological explanation (heat stress and cellular damage) — a hallmark of feature journalism.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97535" y="210820"/>
            <a:ext cx="8107045" cy="456311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>
                <a:solidFill>
                  <a:schemeClr val="tx1"/>
                </a:solidFill>
              </a:rPr>
              <a:t>Prompt:</a:t>
            </a:r>
            <a:endParaRPr lang="en-US" altLang="zh-CN" sz="1200" b="1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tx1"/>
                </a:solidFill>
              </a:rPr>
              <a:t>Write a professional environmental news feature article with the title:</a:t>
            </a:r>
            <a:endParaRPr lang="en-US" altLang="zh-CN" sz="1200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>
                <a:solidFill>
                  <a:schemeClr val="tx1"/>
                </a:solidFill>
              </a:rPr>
              <a:t>"Even camels can't cope: Africa's ships of the desert hit by rising temperatures"</a:t>
            </a:r>
            <a:endParaRPr lang="en-US" altLang="zh-CN" sz="1200" b="1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tx1"/>
                </a:solidFill>
              </a:rPr>
              <a:t>Create an article similar in </a:t>
            </a:r>
            <a:r>
              <a:rPr lang="en-US" altLang="zh-CN" sz="1200" b="1">
                <a:solidFill>
                  <a:schemeClr val="tx1"/>
                </a:solidFill>
              </a:rPr>
              <a:t>genre, length, and journalistic structure</a:t>
            </a:r>
            <a:r>
              <a:rPr lang="en-US" altLang="zh-CN" sz="1200">
                <a:solidFill>
                  <a:schemeClr val="tx1"/>
                </a:solidFill>
              </a:rPr>
              <a:t> to a BBC environment feature article.</a:t>
            </a:r>
            <a:endParaRPr lang="en-US" altLang="zh-CN" sz="1200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tx1"/>
                </a:solidFill>
              </a:rPr>
              <a:t>Requirements:</a:t>
            </a:r>
            <a:endParaRPr lang="en-US" altLang="zh-CN" sz="1200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>
                <a:solidFill>
                  <a:schemeClr val="tx1"/>
                </a:solidFill>
              </a:rPr>
              <a:t>Length and structure:</a:t>
            </a:r>
            <a:endParaRPr lang="en-US" altLang="zh-CN" sz="1200" b="1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tx1"/>
                </a:solidFill>
              </a:rPr>
              <a:t>* Write approximately </a:t>
            </a:r>
            <a:r>
              <a:rPr lang="en-US" altLang="zh-CN" sz="1200" b="1">
                <a:solidFill>
                  <a:schemeClr val="tx1"/>
                </a:solidFill>
              </a:rPr>
              <a:t>1,800–2,000 words</a:t>
            </a:r>
            <a:r>
              <a:rPr lang="en-US" altLang="zh-CN" sz="1200">
                <a:solidFill>
                  <a:schemeClr val="tx1"/>
                </a:solidFill>
              </a:rPr>
              <a:t>.</a:t>
            </a:r>
            <a:endParaRPr lang="en-US" altLang="zh-CN" sz="1200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tx1"/>
                </a:solidFill>
              </a:rPr>
              <a:t>* Use a long-form news feature structure.</a:t>
            </a:r>
            <a:endParaRPr lang="en-US" altLang="zh-CN" sz="1200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tx1"/>
                </a:solidFill>
              </a:rPr>
              <a:t>* Start with an engaging introduction that presents an unexpected problem.</a:t>
            </a:r>
            <a:endParaRPr lang="en-US" altLang="zh-CN" sz="1200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tx1"/>
                </a:solidFill>
              </a:rPr>
              <a:t>* Follow this structure:</a:t>
            </a:r>
            <a:endParaRPr lang="en-US" altLang="zh-CN" sz="1200">
              <a:solidFill>
                <a:schemeClr val="tx1"/>
              </a:solidFill>
            </a:endParaRPr>
          </a:p>
          <a:p>
            <a:r>
              <a:rPr lang="en-US" altLang="zh-CN" sz="1200">
                <a:solidFill>
                  <a:schemeClr val="tx1"/>
                </a:solidFill>
              </a:rPr>
              <a:t>  1. Introduction/hook explaining the main issue.</a:t>
            </a:r>
            <a:endParaRPr lang="en-US" altLang="zh-CN" sz="1200">
              <a:solidFill>
                <a:schemeClr val="tx1"/>
              </a:solidFill>
            </a:endParaRPr>
          </a:p>
          <a:p>
            <a:r>
              <a:rPr lang="en-US" altLang="zh-CN" sz="1200">
                <a:solidFill>
                  <a:schemeClr val="tx1"/>
                </a:solidFill>
              </a:rPr>
              <a:t>  2. A human case study with a person's experience and direct quotations.</a:t>
            </a:r>
            <a:endParaRPr lang="en-US" altLang="zh-CN" sz="1200">
              <a:solidFill>
                <a:schemeClr val="tx1"/>
              </a:solidFill>
            </a:endParaRPr>
          </a:p>
          <a:p>
            <a:r>
              <a:rPr lang="en-US" altLang="zh-CN" sz="1200">
                <a:solidFill>
                  <a:schemeClr val="tx1"/>
                </a:solidFill>
              </a:rPr>
              <a:t>  3. Scientific evidence from researchers and studies.</a:t>
            </a:r>
            <a:endParaRPr lang="en-US" altLang="zh-CN" sz="1200">
              <a:solidFill>
                <a:schemeClr val="tx1"/>
              </a:solidFill>
            </a:endParaRPr>
          </a:p>
          <a:p>
            <a:r>
              <a:rPr lang="en-US" altLang="zh-CN" sz="1200">
                <a:solidFill>
                  <a:schemeClr val="tx1"/>
                </a:solidFill>
              </a:rPr>
              <a:t>  4. Explanation of the causes behind the problem.</a:t>
            </a:r>
            <a:endParaRPr lang="en-US" altLang="zh-CN" sz="1200">
              <a:solidFill>
                <a:schemeClr val="tx1"/>
              </a:solidFill>
            </a:endParaRPr>
          </a:p>
          <a:p>
            <a:r>
              <a:rPr lang="en-US" altLang="zh-CN" sz="1200">
                <a:solidFill>
                  <a:schemeClr val="tx1"/>
                </a:solidFill>
              </a:rPr>
              <a:t>  5. Examples from different geographical regions.</a:t>
            </a:r>
            <a:endParaRPr lang="en-US" altLang="zh-CN" sz="1200">
              <a:solidFill>
                <a:schemeClr val="tx1"/>
              </a:solidFill>
            </a:endParaRPr>
          </a:p>
          <a:p>
            <a:r>
              <a:rPr lang="en-US" altLang="zh-CN" sz="1200">
                <a:solidFill>
                  <a:schemeClr val="tx1"/>
                </a:solidFill>
              </a:rPr>
              <a:t>  6. Expert opinions and explanations.</a:t>
            </a:r>
            <a:endParaRPr lang="en-US" altLang="zh-CN" sz="1200">
              <a:solidFill>
                <a:schemeClr val="tx1"/>
              </a:solidFill>
            </a:endParaRPr>
          </a:p>
          <a:p>
            <a:r>
              <a:rPr lang="en-US" altLang="zh-CN" sz="1200">
                <a:solidFill>
                  <a:schemeClr val="tx1"/>
                </a:solidFill>
              </a:rPr>
              <a:t>  7. Effects and consequences.</a:t>
            </a:r>
            <a:endParaRPr lang="en-US" altLang="zh-CN" sz="1200">
              <a:solidFill>
                <a:schemeClr val="tx1"/>
              </a:solidFill>
            </a:endParaRPr>
          </a:p>
          <a:p>
            <a:r>
              <a:rPr lang="en-US" altLang="zh-CN" sz="1200">
                <a:solidFill>
                  <a:schemeClr val="tx1"/>
                </a:solidFill>
              </a:rPr>
              <a:t>  8. Discussion of future risks and possible solutions.</a:t>
            </a:r>
            <a:endParaRPr lang="en-US" altLang="zh-CN" sz="1200">
              <a:solidFill>
                <a:schemeClr val="tx1"/>
              </a:solidFill>
            </a:endParaRPr>
          </a:p>
          <a:p>
            <a:r>
              <a:rPr lang="en-US" altLang="zh-CN" sz="1200">
                <a:solidFill>
                  <a:schemeClr val="tx1"/>
                </a:solidFill>
              </a:rPr>
              <a:t>  9. A strong concluding paragraph that connects back to the opening idea.</a:t>
            </a:r>
            <a:endParaRPr lang="en-US" altLang="zh-CN" sz="1200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tx1"/>
                </a:solidFill>
              </a:rPr>
              <a:t>eatwaves, and rising temperatures since the 1980s).</a:t>
            </a:r>
            <a:endParaRPr lang="en-US" altLang="zh-CN" sz="1200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tx1"/>
                </a:solidFill>
              </a:rPr>
              <a:t>* Mention scientific studies, climate organizations, veterinarians, researchers, and local communities.</a:t>
            </a:r>
            <a:endParaRPr lang="en-US" altLang="zh-CN" sz="1200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tx1"/>
                </a:solidFill>
              </a:rPr>
              <a:t>* Include statistics where appropriate.</a:t>
            </a:r>
            <a:endParaRPr lang="en-US" altLang="zh-CN" sz="1200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tx1"/>
                </a:solidFill>
              </a:rPr>
              <a:t>* Include at least 3–5 expert quotations.</a:t>
            </a:r>
            <a:endParaRPr lang="en-US" altLang="zh-CN" sz="1200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tx1"/>
                </a:solidFill>
              </a:rPr>
              <a:t>* Include at least 2–3 personal quotations from camel herders.</a:t>
            </a:r>
            <a:endParaRPr lang="en-US" altLang="zh-CN" sz="1200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tx1"/>
                </a:solidFill>
              </a:rPr>
              <a:t>* Explain biological effects of heat stress on camels:</a:t>
            </a:r>
            <a:endParaRPr lang="en-US" altLang="zh-CN" sz="1200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tx1"/>
                </a:solidFill>
              </a:rPr>
              <a:t>* cause-and-effect relationships throughout the article.</a:t>
            </a:r>
            <a:endParaRPr lang="en-US" altLang="zh-CN" sz="12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16230" y="586740"/>
            <a:ext cx="6541770" cy="3230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 b="1">
                <a:sym typeface="+mn-ea"/>
              </a:rPr>
              <a:t>Writing style:</a:t>
            </a:r>
            <a:endParaRPr lang="en-US" altLang="zh-CN" sz="1200" b="1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ym typeface="+mn-ea"/>
              </a:rPr>
              <a:t>* Use a formal journalistic tone.</a:t>
            </a:r>
            <a:endParaRPr lang="en-US" altLang="zh-CN" sz="1200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ym typeface="+mn-ea"/>
              </a:rPr>
              <a:t>* Write objectively like a BBC or Reuters environment correspondent.</a:t>
            </a:r>
            <a:endParaRPr lang="en-US" altLang="zh-CN" sz="1200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ym typeface="+mn-ea"/>
              </a:rPr>
              <a:t>* Do not write an opinion article.</a:t>
            </a:r>
            <a:endParaRPr lang="en-US" altLang="zh-CN" sz="1200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ym typeface="+mn-ea"/>
              </a:rPr>
              <a:t>* Present information through evidence, studies, interviews, and expert statements.</a:t>
            </a:r>
            <a:endParaRPr lang="en-US" altLang="zh-CN" sz="1200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ym typeface="+mn-ea"/>
              </a:rPr>
              <a:t>* Use clear transitions between paragraphs.</a:t>
            </a:r>
            <a:endParaRPr lang="en-US" altLang="zh-CN" sz="1200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ym typeface="+mn-ea"/>
              </a:rPr>
              <a:t>* Avoid dramatic exaggeration.</a:t>
            </a:r>
            <a:endParaRPr lang="en-US" altLang="zh-CN" sz="1200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ym typeface="+mn-ea"/>
              </a:rPr>
              <a:t>* Use scientific explanations but keep the article understandable for general readers.</a:t>
            </a:r>
            <a:endParaRPr lang="en-US" altLang="zh-CN" sz="1200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>
                <a:sym typeface="+mn-ea"/>
              </a:rPr>
              <a:t>Rhetorical structure goals:</a:t>
            </a:r>
            <a:endParaRPr lang="en-US" altLang="zh-CN" sz="1200" b="1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ym typeface="+mn-ea"/>
              </a:rPr>
              <a:t>Organize the article so that it follows this information flow:</a:t>
            </a:r>
            <a:endParaRPr lang="en-US" altLang="zh-CN" sz="1200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ym typeface="+mn-ea"/>
              </a:rPr>
              <a:t>Problem → Human example → Evidence → Scientific explanation → Causes → Consequences → Wider impact → Conclusion</a:t>
            </a:r>
            <a:endParaRPr lang="en-US" altLang="zh-CN" sz="1200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ym typeface="+mn-ea"/>
              </a:rPr>
              <a:t>Use:</a:t>
            </a:r>
            <a:endParaRPr lang="en-US" altLang="zh-CN" sz="1200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ym typeface="+mn-ea"/>
              </a:rPr>
              <a:t>* background information before complex explanations,</a:t>
            </a:r>
            <a:endParaRPr lang="en-US" altLang="zh-CN" sz="1200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ym typeface="+mn-ea"/>
              </a:rPr>
              <a:t>* evidence after major claims,</a:t>
            </a:r>
            <a:endParaRPr lang="en-US" altLang="zh-CN" sz="1200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ym typeface="+mn-ea"/>
              </a:rPr>
              <a:t>* examples to elaborate on general statements,</a:t>
            </a:r>
            <a:endParaRPr lang="en-US" altLang="zh-CN" sz="1200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ym typeface="+mn-ea"/>
              </a:rPr>
              <a:t>* cause-and-effect relationships throughout the article.</a:t>
            </a:r>
            <a:endParaRPr lang="en-US" altLang="zh-CN" sz="1200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19710" y="2249170"/>
            <a:ext cx="7440295" cy="7397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/>
              <a:t>https://github.com/ayperiKhudaybergenova/A-Rhetorical-Structure-Theory-Analysis-of-Human-and-AI--Generated-News-Article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342265" y="114935"/>
            <a:ext cx="6769735" cy="422656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spcAft>
                <a:spcPct val="60000"/>
              </a:spcAft>
            </a:pPr>
            <a:r>
              <a:rPr lang="en-US" altLang="zh-CN" sz="2800" b="1" i="0">
                <a:solidFill>
                  <a:srgbClr val="000000"/>
                </a:solidFill>
              </a:rPr>
              <a:t>1. Opening section</a:t>
            </a:r>
            <a:endParaRPr lang="en-US" altLang="zh-CN" sz="2800" b="1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EDU 1: “Camels are famously known as the ships of the desert...”</a:t>
            </a:r>
            <a:endParaRPr lang="en-US" altLang="zh-CN" sz="16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EDU 2: “...but even these hardy animals are not being spared from the extremes of rising temperatures in Africa.”</a:t>
            </a:r>
            <a:endParaRPr lang="en-US" altLang="zh-CN" sz="16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Relation: Contrast</a:t>
            </a:r>
            <a:endParaRPr lang="en-US" altLang="zh-CN" sz="16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Satellite: Camels are traditionally seen as strong and resistant animals.</a:t>
            </a:r>
            <a:endParaRPr lang="en-US" altLang="zh-CN" sz="16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Nucleus: Even camels are being affected by climate change.</a:t>
            </a:r>
            <a:endParaRPr lang="en-US" altLang="zh-CN" sz="16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Function: Introduces the main problem by contrasting camel resilience with climate vulnerability.</a:t>
            </a:r>
            <a:endParaRPr lang="en-US" altLang="zh-CN" sz="1600" b="0" i="0">
              <a:solidFill>
                <a:srgbClr val="000000"/>
              </a:solidFill>
            </a:endParaRPr>
          </a:p>
          <a:p>
            <a:pPr marL="0" indent="0">
              <a:spcAft>
                <a:spcPct val="60000"/>
              </a:spcAft>
            </a:pPr>
            <a:r>
              <a:rPr lang="en-US" altLang="zh-CN" sz="2800" b="1" i="0">
                <a:solidFill>
                  <a:srgbClr val="000000"/>
                </a:solidFill>
              </a:rPr>
              <a:t>2. Geographic background</a:t>
            </a:r>
            <a:endParaRPr lang="en-US" altLang="zh-CN" sz="2800" b="1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EDU: “The Afar region of north-eastern Ethiopia is one of the hottest and driest places on Earth...”</a:t>
            </a:r>
            <a:endParaRPr lang="en-US" altLang="zh-CN" sz="16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Relation: Background</a:t>
            </a:r>
            <a:endParaRPr lang="en-US" altLang="zh-CN" sz="16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Satellite: Provides geographical and environmental context.</a:t>
            </a:r>
            <a:endParaRPr lang="en-US" altLang="zh-CN" sz="16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Nucleus: Camels are suffering from extreme heat.</a:t>
            </a:r>
            <a:endParaRPr lang="en-US" altLang="zh-CN" sz="16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Function: Explains where the climate problem is happening.</a:t>
            </a:r>
            <a:endParaRPr lang="en-US" altLang="zh-CN" sz="1600" b="0" i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96215" y="0"/>
            <a:ext cx="6915785" cy="415798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spcAft>
                <a:spcPct val="60000"/>
              </a:spcAft>
            </a:pPr>
            <a:r>
              <a:rPr lang="en-US" altLang="zh-CN" b="1" i="0">
                <a:solidFill>
                  <a:srgbClr val="000000"/>
                </a:solidFill>
              </a:rPr>
              <a:t>3. Personal experience of camel herder</a:t>
            </a:r>
            <a:endParaRPr lang="en-US" altLang="zh-CN" b="1" i="0">
              <a:solidFill>
                <a:srgbClr val="000000"/>
              </a:solidFill>
            </a:endParaRPr>
          </a:p>
          <a:p>
            <a:pPr marL="0" indent="0"/>
            <a:r>
              <a:rPr lang="en-US" altLang="zh-CN" b="0" i="0">
                <a:solidFill>
                  <a:srgbClr val="000000"/>
                </a:solidFill>
              </a:rPr>
              <a:t>EDU: “I can see my camels suffering from extreme heat.”</a:t>
            </a:r>
            <a:endParaRPr lang="en-US" altLang="zh-CN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b="0" i="0">
                <a:solidFill>
                  <a:srgbClr val="000000"/>
                </a:solidFill>
              </a:rPr>
              <a:t>EDU: “They get blisters on their feet, their eyes become watery and the hot sand burns their skin...”</a:t>
            </a:r>
            <a:endParaRPr lang="en-US" altLang="zh-CN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b="0" i="0">
                <a:solidFill>
                  <a:srgbClr val="000000"/>
                </a:solidFill>
              </a:rPr>
              <a:t>Relation: Elaboration</a:t>
            </a:r>
            <a:endParaRPr lang="en-US" altLang="zh-CN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b="0" i="0">
                <a:solidFill>
                  <a:srgbClr val="000000"/>
                </a:solidFill>
              </a:rPr>
              <a:t>Satellite: Specific examples of camel injuries and suffering.</a:t>
            </a:r>
            <a:endParaRPr lang="en-US" altLang="zh-CN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b="0" i="0">
                <a:solidFill>
                  <a:srgbClr val="000000"/>
                </a:solidFill>
              </a:rPr>
              <a:t>Nucleus: Extreme heat is damaging camels.</a:t>
            </a:r>
            <a:endParaRPr lang="en-US" altLang="zh-CN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b="0" i="0">
                <a:solidFill>
                  <a:srgbClr val="000000"/>
                </a:solidFill>
              </a:rPr>
              <a:t>Function: Provides a human example to make the issue more concrete.</a:t>
            </a:r>
            <a:endParaRPr lang="en-US" altLang="zh-CN" b="0" i="0">
              <a:solidFill>
                <a:srgbClr val="000000"/>
              </a:solidFill>
            </a:endParaRPr>
          </a:p>
          <a:p>
            <a:pPr marL="0" indent="0">
              <a:spcAft>
                <a:spcPct val="60000"/>
              </a:spcAft>
            </a:pPr>
            <a:r>
              <a:rPr lang="en-US" altLang="zh-CN" b="1" i="0">
                <a:solidFill>
                  <a:srgbClr val="000000"/>
                </a:solidFill>
              </a:rPr>
              <a:t>4. Personal observation → scientific confirmation</a:t>
            </a:r>
            <a:endParaRPr lang="en-US" altLang="zh-CN" b="1" i="0">
              <a:solidFill>
                <a:srgbClr val="000000"/>
              </a:solidFill>
            </a:endParaRPr>
          </a:p>
          <a:p>
            <a:pPr marL="0" indent="0"/>
            <a:r>
              <a:rPr lang="en-US" altLang="zh-CN" b="0" i="0">
                <a:solidFill>
                  <a:srgbClr val="000000"/>
                </a:solidFill>
              </a:rPr>
              <a:t>EDU: “He is not alone in his observations: scientists, animal welfare workers and various studies all mention stress, fatigue, dehydration, disease prevalence as direct impacts of extreme heat.”</a:t>
            </a:r>
            <a:endParaRPr lang="en-US" altLang="zh-CN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b="0" i="0">
                <a:solidFill>
                  <a:srgbClr val="000000"/>
                </a:solidFill>
              </a:rPr>
              <a:t>Relation: Evidence</a:t>
            </a:r>
            <a:endParaRPr lang="en-US" altLang="zh-CN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b="0" i="0">
                <a:solidFill>
                  <a:srgbClr val="000000"/>
                </a:solidFill>
              </a:rPr>
              <a:t>Satellite: Scientific research supports the herder’s experience.</a:t>
            </a:r>
            <a:endParaRPr lang="en-US" altLang="zh-CN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b="0" i="0">
                <a:solidFill>
                  <a:srgbClr val="000000"/>
                </a:solidFill>
              </a:rPr>
              <a:t>Nucleus: Extreme heat harms camel health.</a:t>
            </a:r>
            <a:endParaRPr lang="en-US" altLang="zh-CN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b="0" i="0">
                <a:solidFill>
                  <a:srgbClr val="000000"/>
                </a:solidFill>
              </a:rPr>
              <a:t>Function: Moves from individual testimony to scientific credibility.</a:t>
            </a:r>
            <a:endParaRPr lang="en-US" altLang="zh-CN" b="0" i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81305" y="158115"/>
            <a:ext cx="6830695" cy="396748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spcAft>
                <a:spcPct val="60000"/>
              </a:spcAft>
            </a:pPr>
            <a:r>
              <a:rPr lang="en-US" altLang="zh-CN" sz="2800" b="1" i="0">
                <a:solidFill>
                  <a:srgbClr val="000000"/>
                </a:solidFill>
              </a:rPr>
              <a:t>5. Regional expansion</a:t>
            </a:r>
            <a:endParaRPr lang="en-US" altLang="zh-CN" sz="2800" b="1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EDU: “North Africa and the Horn of Africa host around 80% of the world's largest population of dromedary camels.”</a:t>
            </a:r>
            <a:endParaRPr lang="en-US" altLang="zh-CN" sz="16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Relation: Background</a:t>
            </a:r>
            <a:endParaRPr lang="en-US" altLang="zh-CN" sz="16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Satellite: Shows the importance of camels in these regions.</a:t>
            </a:r>
            <a:endParaRPr lang="en-US" altLang="zh-CN" sz="16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Nucleus: Climate change threatens major camel populations.</a:t>
            </a:r>
            <a:endParaRPr lang="en-US" altLang="zh-CN" sz="16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Function: Expands the issue beyond one location.</a:t>
            </a:r>
            <a:endParaRPr lang="en-US" altLang="zh-CN" sz="1600" b="0" i="0">
              <a:solidFill>
                <a:srgbClr val="000000"/>
              </a:solidFill>
            </a:endParaRPr>
          </a:p>
          <a:p>
            <a:pPr marL="0" indent="0">
              <a:spcAft>
                <a:spcPct val="60000"/>
              </a:spcAft>
            </a:pPr>
            <a:r>
              <a:rPr lang="en-US" altLang="zh-CN" sz="2800" b="1" i="0">
                <a:solidFill>
                  <a:srgbClr val="000000"/>
                </a:solidFill>
              </a:rPr>
              <a:t>6. Research evidence from Ethiopia</a:t>
            </a:r>
            <a:endParaRPr lang="en-US" altLang="zh-CN" sz="2800" b="1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EDU: “A study based on the perception of camel herders in southern Ethiopia showed that high temperatures and climate variability had a detrimental impact on camel herd health.”</a:t>
            </a:r>
            <a:endParaRPr lang="en-US" altLang="zh-CN" sz="16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Relation: Evidence</a:t>
            </a:r>
            <a:endParaRPr lang="en-US" altLang="zh-CN" sz="16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Satellite: The study provides research support.</a:t>
            </a:r>
            <a:endParaRPr lang="en-US" altLang="zh-CN" sz="16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Nucleus: High temperatures damage camel health.</a:t>
            </a:r>
            <a:endParaRPr lang="en-US" altLang="zh-CN" sz="16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Function: Strengthens the argument with scientific findings.</a:t>
            </a:r>
            <a:endParaRPr lang="en-US" altLang="zh-CN" sz="1600" b="0" i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24510" y="-87630"/>
            <a:ext cx="6587490" cy="445960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spcAft>
                <a:spcPct val="60000"/>
              </a:spcAft>
            </a:pPr>
            <a:r>
              <a:rPr lang="en-US" altLang="zh-CN" sz="2800" b="1" i="0">
                <a:solidFill>
                  <a:srgbClr val="000000"/>
                </a:solidFill>
              </a:rPr>
              <a:t>1. Opening section</a:t>
            </a:r>
            <a:endParaRPr lang="en-US" altLang="zh-CN" sz="2800" b="1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EDU 1: “For centuries, the camel has been the ultimate survivor of Africa’s drylands...”</a:t>
            </a:r>
            <a:endParaRPr lang="en-US" altLang="zh-CN" sz="16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EDU 2: “But that assumption is now being tested.”</a:t>
            </a:r>
            <a:endParaRPr lang="en-US" altLang="zh-CN" sz="16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Relation: Contrast</a:t>
            </a:r>
            <a:endParaRPr lang="en-US" altLang="zh-CN" sz="16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Satellite: Camels are traditionally seen as symbols of survival.</a:t>
            </a:r>
            <a:endParaRPr lang="en-US" altLang="zh-CN" sz="16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Nucleus: Climate change is challenging camel resilience.</a:t>
            </a:r>
            <a:endParaRPr lang="en-US" altLang="zh-CN" sz="16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Function: Introduces the main conflict of the article.</a:t>
            </a:r>
            <a:endParaRPr lang="en-US" altLang="zh-CN" sz="1600" b="0" i="0">
              <a:solidFill>
                <a:srgbClr val="000000"/>
              </a:solidFill>
            </a:endParaRPr>
          </a:p>
          <a:p>
            <a:pPr marL="0" indent="0">
              <a:spcAft>
                <a:spcPct val="60000"/>
              </a:spcAft>
            </a:pPr>
            <a:r>
              <a:rPr lang="en-US" altLang="zh-CN" sz="2800" b="1" i="0">
                <a:solidFill>
                  <a:srgbClr val="000000"/>
                </a:solidFill>
              </a:rPr>
              <a:t>2. Climate problem introduction</a:t>
            </a:r>
            <a:endParaRPr lang="en-US" altLang="zh-CN" sz="2800" b="1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EDU: “Across Ethiopia, Somalia, Kenya and parts of North Africa, veterinarians, pastoralists and researchers are reporting something that would once have seemed unthinkable: camels are struggling to cope with the heat.”</a:t>
            </a:r>
            <a:endParaRPr lang="en-US" altLang="zh-CN" sz="16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Relation: Evidence</a:t>
            </a:r>
            <a:endParaRPr lang="en-US" altLang="zh-CN" sz="16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Satellite: Reports from different groups support the claim.</a:t>
            </a:r>
            <a:endParaRPr lang="en-US" altLang="zh-CN" sz="16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Nucleus: Extreme heat is affecting camels across Africa.</a:t>
            </a:r>
            <a:endParaRPr lang="en-US" altLang="zh-CN" sz="16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Function: Shows that the problem is widespread.</a:t>
            </a:r>
            <a:endParaRPr lang="en-US" altLang="zh-CN" sz="1600" b="0" i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44475" y="-635"/>
            <a:ext cx="6867525" cy="472630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spcAft>
                <a:spcPct val="60000"/>
              </a:spcAft>
            </a:pPr>
            <a:r>
              <a:rPr lang="en-US" altLang="zh-CN" sz="1400" b="1" i="0">
                <a:solidFill>
                  <a:srgbClr val="000000"/>
                </a:solidFill>
              </a:rPr>
              <a:t>3. Human case study</a:t>
            </a:r>
            <a:endParaRPr lang="en-US" altLang="zh-CN" sz="1400" b="1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400" b="0" i="0">
                <a:solidFill>
                  <a:srgbClr val="000000"/>
                </a:solidFill>
              </a:rPr>
              <a:t>EDU: “Hassan Abdi Nur has kept camels in Kenya’s Marsabit County for most of his life.”</a:t>
            </a:r>
            <a:endParaRPr lang="en-US" altLang="zh-CN" sz="14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400" b="0" i="0">
                <a:solidFill>
                  <a:srgbClr val="000000"/>
                </a:solidFill>
              </a:rPr>
              <a:t>Relation: Background</a:t>
            </a:r>
            <a:endParaRPr lang="en-US" altLang="zh-CN" sz="14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400" b="0" i="0">
                <a:solidFill>
                  <a:srgbClr val="000000"/>
                </a:solidFill>
              </a:rPr>
              <a:t>Satellite: Introduces the person and his connection with camel herding.</a:t>
            </a:r>
            <a:endParaRPr lang="en-US" altLang="zh-CN" sz="14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400" b="0" i="0">
                <a:solidFill>
                  <a:srgbClr val="000000"/>
                </a:solidFill>
              </a:rPr>
              <a:t>Nucleus: Camel herders are experiencing climate changes.</a:t>
            </a:r>
            <a:endParaRPr lang="en-US" altLang="zh-CN" sz="14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400" b="0" i="0">
                <a:solidFill>
                  <a:srgbClr val="000000"/>
                </a:solidFill>
              </a:rPr>
              <a:t>Function: Provides a personal perspective.</a:t>
            </a:r>
            <a:endParaRPr lang="en-US" altLang="zh-CN" sz="14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400" b="0" i="0">
                <a:solidFill>
                  <a:srgbClr val="000000"/>
                </a:solidFill>
              </a:rPr>
              <a:t>EDU: “Even the camels, which can go many days without water, are collapsing on the road when we move them too far in this heat.”</a:t>
            </a:r>
            <a:endParaRPr lang="en-US" altLang="zh-CN" sz="14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400" b="0" i="0">
                <a:solidFill>
                  <a:srgbClr val="000000"/>
                </a:solidFill>
              </a:rPr>
              <a:t>Relation: Evidence</a:t>
            </a:r>
            <a:endParaRPr lang="en-US" altLang="zh-CN" sz="14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400" b="0" i="0">
                <a:solidFill>
                  <a:srgbClr val="000000"/>
                </a:solidFill>
              </a:rPr>
              <a:t>Satellite: Shows a direct example of camel suffering.</a:t>
            </a:r>
            <a:endParaRPr lang="en-US" altLang="zh-CN" sz="14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400" b="0" i="0">
                <a:solidFill>
                  <a:srgbClr val="000000"/>
                </a:solidFill>
              </a:rPr>
              <a:t>Nucleus: Extreme heat is weakening camels.</a:t>
            </a:r>
            <a:endParaRPr lang="en-US" altLang="zh-CN" sz="14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400" b="0" i="0">
                <a:solidFill>
                  <a:srgbClr val="000000"/>
                </a:solidFill>
              </a:rPr>
              <a:t>Function: Makes the climate problem concrete.</a:t>
            </a:r>
            <a:endParaRPr lang="en-US" altLang="zh-CN" sz="1400" b="0" i="0">
              <a:solidFill>
                <a:srgbClr val="000000"/>
              </a:solidFill>
            </a:endParaRPr>
          </a:p>
          <a:p>
            <a:pPr marL="0" indent="0">
              <a:spcAft>
                <a:spcPct val="60000"/>
              </a:spcAft>
            </a:pPr>
            <a:r>
              <a:rPr lang="en-US" altLang="zh-CN" sz="1400" b="1" i="0">
                <a:solidFill>
                  <a:srgbClr val="000000"/>
                </a:solidFill>
              </a:rPr>
              <a:t>4. Drought evidence</a:t>
            </a:r>
            <a:endParaRPr lang="en-US" altLang="zh-CN" sz="1400" b="1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400" b="0" i="0">
                <a:solidFill>
                  <a:srgbClr val="000000"/>
                </a:solidFill>
              </a:rPr>
              <a:t>EDU: “Nur said he lost four camels during the drought that struck the region between 2020 and 2023.”</a:t>
            </a:r>
            <a:endParaRPr lang="en-US" altLang="zh-CN" sz="14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400" b="0" i="0">
                <a:solidFill>
                  <a:srgbClr val="000000"/>
                </a:solidFill>
              </a:rPr>
              <a:t>Relation: Evidence</a:t>
            </a:r>
            <a:endParaRPr lang="en-US" altLang="zh-CN" sz="14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400" b="0" i="0">
                <a:solidFill>
                  <a:srgbClr val="000000"/>
                </a:solidFill>
              </a:rPr>
              <a:t>Satellite: Provides an example of camel deaths.</a:t>
            </a:r>
            <a:endParaRPr lang="en-US" altLang="zh-CN" sz="14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400" b="0" i="0">
                <a:solidFill>
                  <a:srgbClr val="000000"/>
                </a:solidFill>
              </a:rPr>
              <a:t>Nucleus: Drought is damaging camel survival.</a:t>
            </a:r>
            <a:endParaRPr lang="en-US" altLang="zh-CN" sz="14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400" b="0" i="0">
                <a:solidFill>
                  <a:srgbClr val="000000"/>
                </a:solidFill>
              </a:rPr>
              <a:t>Function: Supports the main argument with a real case.</a:t>
            </a:r>
            <a:endParaRPr lang="en-US" altLang="zh-CN" sz="1400" b="0" i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69240" y="679450"/>
            <a:ext cx="6842760" cy="370268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/>
            <a:r>
              <a:rPr lang="de-DE" altLang="en-US" sz="1600" b="0" i="0">
                <a:solidFill>
                  <a:srgbClr val="000000"/>
                </a:solidFill>
                <a:latin typeface="Calibri" charset="0"/>
              </a:rPr>
              <a:t>1.</a:t>
            </a:r>
            <a:r>
              <a:rPr lang="en-US" altLang="zh-CN" sz="1600" b="0" i="0">
                <a:solidFill>
                  <a:srgbClr val="000000"/>
                </a:solidFill>
              </a:rPr>
              <a:t>The BBC text uses an </a:t>
            </a:r>
            <a:r>
              <a:rPr lang="en-US" altLang="zh-CN" sz="1600" b="1" i="0">
                <a:solidFill>
                  <a:srgbClr val="000000"/>
                </a:solidFill>
              </a:rPr>
              <a:t>Evidence → Explanation → Consequence</a:t>
            </a:r>
            <a:r>
              <a:rPr lang="en-US" altLang="zh-CN" sz="1600" b="0" i="0">
                <a:solidFill>
                  <a:srgbClr val="000000"/>
                </a:solidFill>
              </a:rPr>
              <a:t> RST structure, where personal testimony and scientific studies act as satellites supporting the nucleus that extreme heat is harming camels.</a:t>
            </a:r>
            <a:endParaRPr lang="en-US" altLang="zh-CN" sz="16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The AI text uses a </a:t>
            </a:r>
            <a:r>
              <a:rPr lang="en-US" altLang="zh-CN" sz="1600" b="1" i="0">
                <a:solidFill>
                  <a:srgbClr val="000000"/>
                </a:solidFill>
              </a:rPr>
              <a:t>Background → Explanation → Consequence</a:t>
            </a:r>
            <a:r>
              <a:rPr lang="en-US" altLang="zh-CN" sz="1600" b="0" i="0">
                <a:solidFill>
                  <a:srgbClr val="000000"/>
                </a:solidFill>
              </a:rPr>
              <a:t> structure, where broader climate information supports the </a:t>
            </a:r>
            <a:r>
              <a:rPr lang="en-US" altLang="zh-CN" sz="1600" b="1" i="0">
                <a:solidFill>
                  <a:srgbClr val="000000"/>
                </a:solidFill>
              </a:rPr>
              <a:t>nucleus</a:t>
            </a:r>
            <a:r>
              <a:rPr lang="en-US" altLang="zh-CN" sz="1600" b="0" i="0">
                <a:solidFill>
                  <a:srgbClr val="000000"/>
                </a:solidFill>
              </a:rPr>
              <a:t> that camels are reaching their limits because of climate change.</a:t>
            </a:r>
            <a:endParaRPr lang="en-US" altLang="zh-CN" sz="1600" b="0" i="0">
              <a:solidFill>
                <a:srgbClr val="000000"/>
              </a:solidFill>
            </a:endParaRPr>
          </a:p>
          <a:p>
            <a:pPr marL="0" indent="0"/>
            <a:endParaRPr lang="en-US" altLang="zh-CN" sz="1600" b="0" i="0">
              <a:solidFill>
                <a:srgbClr val="000000"/>
              </a:solidFill>
            </a:endParaRPr>
          </a:p>
          <a:p>
            <a:pPr marL="0" indent="0"/>
            <a:r>
              <a:rPr lang="de-DE" altLang="en-US" sz="1600" b="0" i="0">
                <a:solidFill>
                  <a:srgbClr val="000000"/>
                </a:solidFill>
                <a:latin typeface="Calibri" charset="0"/>
              </a:rPr>
              <a:t>2.</a:t>
            </a:r>
            <a:r>
              <a:rPr lang="en-US" altLang="zh-CN" sz="1600" b="0" i="0">
                <a:solidFill>
                  <a:srgbClr val="000000"/>
                </a:solidFill>
              </a:rPr>
              <a:t>The human-written article depends more on</a:t>
            </a:r>
            <a:r>
              <a:rPr lang="en-US" altLang="zh-CN" sz="1600" b="1" i="0">
                <a:solidFill>
                  <a:srgbClr val="000000"/>
                </a:solidFill>
              </a:rPr>
              <a:t> Evidence</a:t>
            </a:r>
            <a:r>
              <a:rPr lang="en-US" altLang="zh-CN" sz="1600" b="0" i="0">
                <a:solidFill>
                  <a:srgbClr val="000000"/>
                </a:solidFill>
              </a:rPr>
              <a:t> satellites such as quotes from herders, scientists, and veterinarians, making it more journalistic and factual.</a:t>
            </a:r>
            <a:endParaRPr lang="en-US" altLang="zh-CN" sz="16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The AI-written article depends more on </a:t>
            </a:r>
            <a:r>
              <a:rPr lang="en-US" altLang="zh-CN" sz="1600" b="1" i="0">
                <a:solidFill>
                  <a:srgbClr val="000000"/>
                </a:solidFill>
              </a:rPr>
              <a:t>Elaboration and Cause</a:t>
            </a:r>
            <a:r>
              <a:rPr lang="en-US" altLang="zh-CN" sz="1600" b="0" i="0">
                <a:solidFill>
                  <a:srgbClr val="000000"/>
                </a:solidFill>
              </a:rPr>
              <a:t> satellites, creating a smoother argument but with less direct evidence from real sources.</a:t>
            </a:r>
            <a:endParaRPr lang="en-US" altLang="zh-CN" sz="1600" b="0" i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B5F39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B5F39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8130</Words>
  <Application>WPS Presentation</Application>
  <PresentationFormat>On-screen Show (16:9)</PresentationFormat>
  <Paragraphs>156</Paragraphs>
  <Slides>14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5" baseType="lpstr">
      <vt:lpstr>Arial</vt:lpstr>
      <vt:lpstr>SimSun</vt:lpstr>
      <vt:lpstr>Wingdings</vt:lpstr>
      <vt:lpstr>Alice</vt:lpstr>
      <vt:lpstr>Alice</vt:lpstr>
      <vt:lpstr>Alice</vt:lpstr>
      <vt:lpstr>Lora</vt:lpstr>
      <vt:lpstr>Lora</vt:lpstr>
      <vt:lpstr>Lora</vt:lpstr>
      <vt:lpstr>Lora Bold</vt:lpstr>
      <vt:lpstr>苹方-简</vt:lpstr>
      <vt:lpstr>Lora Bold</vt:lpstr>
      <vt:lpstr>Lora Bold</vt:lpstr>
      <vt:lpstr>Calibri</vt:lpstr>
      <vt:lpstr>Helvetica Neue</vt:lpstr>
      <vt:lpstr>Arial Unicode MS</vt:lpstr>
      <vt:lpstr>Microsoft YaHei</vt:lpstr>
      <vt:lpstr>汉仪旗黑</vt:lpstr>
      <vt:lpstr>宋体-简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ayperi</cp:lastModifiedBy>
  <cp:revision>3</cp:revision>
  <dcterms:created xsi:type="dcterms:W3CDTF">2026-07-23T12:58:15Z</dcterms:created>
  <dcterms:modified xsi:type="dcterms:W3CDTF">2026-07-23T12:58:15Z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A087919793456781D20C626AE8D87ECA_42</vt:lpwstr>
  </property>
  <property fmtid="{D5CDD505-2E9C-101B-9397-08002B2CF9AE}" pid="3" name="KSOProductBuildVer">
    <vt:lpwstr>1033-6.12.2.8699</vt:lpwstr>
  </property>
</Properties>
</file>